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772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ADCFC"/>
                </a:solidFill>
                <a:latin typeface="Calibri"/>
              </a:rPr>
              <a:t>INFORME PARA DIRECTORIO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394960" cy="2468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Cuatro perfiles de clientes que abandonan el Paquete Premium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77639"/>
            <a:ext cx="521208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CADCFC"/>
                </a:solidFill>
                <a:latin typeface="Calibri"/>
              </a:rPr>
              <a:t>Segmentación basada en comportamiento observado — bajas estrictas con historia completa (n = 1.991)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393C4"/>
                </a:solidFill>
                <a:latin typeface="Calibri"/>
              </a:rPr>
              <a:t>USO INTERNO  ·  SEPTIEMBRE 2026</a:t>
            </a:r>
          </a:p>
        </p:txBody>
      </p:sp>
      <p:sp>
        <p:nvSpPr>
          <p:cNvPr id="6" name="Oval 5"/>
          <p:cNvSpPr/>
          <p:nvPr/>
        </p:nvSpPr>
        <p:spPr>
          <a:xfrm>
            <a:off x="6743700" y="937259"/>
            <a:ext cx="2011680" cy="2011680"/>
          </a:xfrm>
          <a:prstGeom prst="ellipse">
            <a:avLst/>
          </a:prstGeom>
          <a:solidFill>
            <a:srgbClr val="2F6B9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301752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49,2%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310127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ADCFC"/>
                </a:solidFill>
                <a:latin typeface="Calibri"/>
              </a:rPr>
              <a:t>Transaccionales multicanal</a:t>
            </a:r>
          </a:p>
        </p:txBody>
      </p:sp>
      <p:sp>
        <p:nvSpPr>
          <p:cNvPr id="9" name="Oval 8"/>
          <p:cNvSpPr/>
          <p:nvPr/>
        </p:nvSpPr>
        <p:spPr>
          <a:xfrm>
            <a:off x="9546336" y="1042416"/>
            <a:ext cx="1801368" cy="1801368"/>
          </a:xfrm>
          <a:prstGeom prst="ellipse">
            <a:avLst/>
          </a:prstGeom>
          <a:solidFill>
            <a:srgbClr val="D9773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301752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39,4%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3310127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ADCFC"/>
                </a:solidFill>
                <a:latin typeface="Calibri"/>
              </a:rPr>
              <a:t>Desvinculación avanzada</a:t>
            </a:r>
          </a:p>
        </p:txBody>
      </p:sp>
      <p:sp>
        <p:nvSpPr>
          <p:cNvPr id="12" name="Oval 11"/>
          <p:cNvSpPr/>
          <p:nvPr/>
        </p:nvSpPr>
        <p:spPr>
          <a:xfrm>
            <a:off x="7374636" y="4311396"/>
            <a:ext cx="749808" cy="7498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576072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6,8%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053328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ADCFC"/>
                </a:solidFill>
                <a:latin typeface="Calibri"/>
              </a:rPr>
              <a:t>Vinculados por nómina</a:t>
            </a:r>
          </a:p>
        </p:txBody>
      </p:sp>
      <p:sp>
        <p:nvSpPr>
          <p:cNvPr id="15" name="Oval 14"/>
          <p:cNvSpPr/>
          <p:nvPr/>
        </p:nvSpPr>
        <p:spPr>
          <a:xfrm>
            <a:off x="10140696" y="4379976"/>
            <a:ext cx="612648" cy="612648"/>
          </a:xfrm>
          <a:prstGeom prst="ellipse">
            <a:avLst/>
          </a:prstGeom>
          <a:solidFill>
            <a:srgbClr val="8C6BB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576072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4,6%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6053328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ADCFC"/>
                </a:solidFill>
                <a:latin typeface="Calibri"/>
              </a:rPr>
              <a:t>Vinculados por crédito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Mapa de los cuatro perfiles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B7280"/>
                </a:solidFill>
                <a:latin typeface="Calibri"/>
              </a:rPr>
              <a:t>1.991 bajas estrictas con tres meses consecutivos de historia · clustering jerárquico (Ward) sobre representación de Random Forest, k =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2640330" cy="4160520"/>
          </a:xfrm>
          <a:prstGeom prst="roundRect">
            <a:avLst>
              <a:gd name="adj" fmla="val 5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856232"/>
            <a:ext cx="242087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6B9A"/>
                </a:solidFill>
                <a:latin typeface="Calibri"/>
              </a:rPr>
              <a:t>RECONOCER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67128"/>
            <a:ext cx="245745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Transaccionales multicanal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264033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2F6B9A"/>
                </a:solidFill>
                <a:latin typeface="Calibri"/>
              </a:rPr>
              <a:t>49,2%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264033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Calibri"/>
              </a:rPr>
              <a:t>de los clientes · n = 979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931920"/>
            <a:ext cx="2000250" cy="10972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114800"/>
            <a:ext cx="236601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61688"/>
            <a:ext cx="236601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TRANSACCIONES (T0)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26864"/>
            <a:ext cx="236601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73752"/>
            <a:ext cx="236601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FAMILIAS ACTIVAS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38928"/>
            <a:ext cx="236601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$117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385816"/>
            <a:ext cx="236601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SALDO MEDIANO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17570" y="1691640"/>
            <a:ext cx="2640330" cy="4160520"/>
          </a:xfrm>
          <a:prstGeom prst="roundRect">
            <a:avLst>
              <a:gd name="adj" fmla="val 5000"/>
            </a:avLst>
          </a:prstGeom>
          <a:solidFill>
            <a:srgbClr val="E1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7298" y="1856232"/>
            <a:ext cx="242087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FACILITAR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9010" y="2167128"/>
            <a:ext cx="245745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Vinculados por nómina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7570" y="2743200"/>
            <a:ext cx="264033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2A9D8F"/>
                </a:solidFill>
                <a:latin typeface="Calibri"/>
              </a:rPr>
              <a:t>6,8%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7570" y="3474720"/>
            <a:ext cx="264033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Calibri"/>
              </a:rPr>
              <a:t>de los clientes · n = 135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37610" y="3931920"/>
            <a:ext cx="2000250" cy="10972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54730" y="4114800"/>
            <a:ext cx="236601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4730" y="4361688"/>
            <a:ext cx="236601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TRANSACCIONES (T0)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4730" y="4626864"/>
            <a:ext cx="236601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4730" y="4873752"/>
            <a:ext cx="236601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FAMILIAS ACTIVAS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4730" y="5138928"/>
            <a:ext cx="236601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$7.179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4730" y="5385816"/>
            <a:ext cx="236601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SALDO MEDIANO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6500" y="1691640"/>
            <a:ext cx="2640330" cy="4160520"/>
          </a:xfrm>
          <a:prstGeom prst="roundRect">
            <a:avLst>
              <a:gd name="adj" fmla="val 5000"/>
            </a:avLst>
          </a:prstGeom>
          <a:solidFill>
            <a:srgbClr val="EF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6228" y="1856232"/>
            <a:ext cx="242087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6BB1"/>
                </a:solidFill>
                <a:latin typeface="Calibri"/>
              </a:rPr>
              <a:t>ACOMPAÑAR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7940" y="2167128"/>
            <a:ext cx="245745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Vinculados por crédito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6500" y="2743200"/>
            <a:ext cx="264033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8C6BB1"/>
                </a:solidFill>
                <a:latin typeface="Calibri"/>
              </a:rPr>
              <a:t>4,6%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6500" y="3474720"/>
            <a:ext cx="264033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Calibri"/>
              </a:rPr>
              <a:t>de los clientes · n = 92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6540" y="3931920"/>
            <a:ext cx="2000250" cy="10972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3660" y="4114800"/>
            <a:ext cx="236601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3660" y="4361688"/>
            <a:ext cx="236601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TRANSACCIONES (T0)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3660" y="4626864"/>
            <a:ext cx="236601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3660" y="4873752"/>
            <a:ext cx="236601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FAMILIAS ACTIVAS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3660" y="5138928"/>
            <a:ext cx="236601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−$2.768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3660" y="5385816"/>
            <a:ext cx="236601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SALDO MEDIANO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55430" y="1691640"/>
            <a:ext cx="2640330" cy="4160520"/>
          </a:xfrm>
          <a:prstGeom prst="roundRect">
            <a:avLst>
              <a:gd name="adj" fmla="val 5000"/>
            </a:avLst>
          </a:prstGeom>
          <a:solidFill>
            <a:srgbClr val="FBE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65158" y="1856232"/>
            <a:ext cx="242087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7732"/>
                </a:solidFill>
                <a:latin typeface="Calibri"/>
              </a:rPr>
              <a:t>DECIDIR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46870" y="2167128"/>
            <a:ext cx="245745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Desvinculación avanzada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55430" y="2743200"/>
            <a:ext cx="264033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D97732"/>
                </a:solidFill>
                <a:latin typeface="Calibri"/>
              </a:rPr>
              <a:t>39,4%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55430" y="3474720"/>
            <a:ext cx="264033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Calibri"/>
              </a:rPr>
              <a:t>de los clientes · n = 785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75470" y="3931920"/>
            <a:ext cx="2000250" cy="10972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92590" y="4114800"/>
            <a:ext cx="236601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92590" y="4361688"/>
            <a:ext cx="236601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TRANSACCIONES (T0)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92590" y="4626864"/>
            <a:ext cx="236601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92590" y="4873752"/>
            <a:ext cx="236601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FAMILIA ACTIVA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92590" y="5138928"/>
            <a:ext cx="236601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−$7.420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92590" y="5385816"/>
            <a:ext cx="236601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SALDO MEDIANO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9CA3AF"/>
                </a:solidFill>
                <a:latin typeface="Calibri"/>
              </a:rPr>
              <a:t>Fuente: EDA_Miranda.ipynb — segmentación principal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6B9A"/>
                </a:solidFill>
                <a:latin typeface="Calibri"/>
              </a:rPr>
              <a:t>PERFIL 1 · RECONOCER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761"/>
                </a:solidFill>
                <a:latin typeface="Cambria"/>
              </a:rPr>
              <a:t>Transaccionales multicanal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98280" y="365760"/>
            <a:ext cx="2633472" cy="868680"/>
          </a:xfrm>
          <a:prstGeom prst="roundRect">
            <a:avLst>
              <a:gd name="adj" fmla="val 12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98280" y="420624"/>
            <a:ext cx="263347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F6B9A"/>
                </a:solidFill>
                <a:latin typeface="Calibri"/>
              </a:rPr>
              <a:t>49,2%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859536"/>
            <a:ext cx="263347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de los clientes analizados · n = 979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761"/>
                </a:solidFill>
                <a:latin typeface="Calibri"/>
              </a:rPr>
              <a:t>RELACIÓN CON EL BANCO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37160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E2761"/>
                </a:solidFill>
                <a:latin typeface="Calibri"/>
              </a:rPr>
              <a:t>115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2199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meses de antigüedad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691640"/>
            <a:ext cx="137160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E2761"/>
                </a:solidFill>
                <a:latin typeface="Calibr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22199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productos (t0)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37160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1927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familias activas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788920"/>
            <a:ext cx="137160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E2761"/>
                </a:solidFill>
                <a:latin typeface="Calibri"/>
              </a:rPr>
              <a:t>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31927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años, edad mediana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325880"/>
            <a:ext cx="807415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761"/>
                </a:solidFill>
                <a:latin typeface="Calibri"/>
              </a:rPr>
              <a:t>EVOLUCIÓN DURANTE LOS ÚLTIMOS TRES MESES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0" y="1691640"/>
          <a:ext cx="8074152" cy="1874514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1709928"/>
                <a:gridCol w="1709928"/>
                <a:gridCol w="1728216"/>
              </a:tblGrid>
              <a:tr h="312419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 anchor="ctr" marL="73152" marR="73152" marT="18288" marB="18288">
                    <a:solidFill>
                      <a:srgbClr val="2F6B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t−2</a:t>
                      </a:r>
                    </a:p>
                  </a:txBody>
                  <a:tcPr anchor="ctr" marL="73152" marR="73152" marT="18288" marB="18288">
                    <a:solidFill>
                      <a:srgbClr val="2F6B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t−1</a:t>
                      </a:r>
                    </a:p>
                  </a:txBody>
                  <a:tcPr anchor="ctr" marL="73152" marR="73152" marT="18288" marB="18288">
                    <a:solidFill>
                      <a:srgbClr val="2F6B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t0</a:t>
                      </a:r>
                    </a:p>
                  </a:txBody>
                  <a:tcPr anchor="ctr" marL="73152" marR="73152" marT="18288" marB="18288">
                    <a:solidFill>
                      <a:srgbClr val="2F6B9A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15C"/>
                          </a:solidFill>
                          <a:latin typeface="Calibri"/>
                        </a:rPr>
                        <a:t>Transacciones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F6B9A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15C"/>
                          </a:solidFill>
                          <a:latin typeface="Calibri"/>
                        </a:rPr>
                        <a:t>Usa tarjeta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78,8%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75,9%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F6B9A"/>
                          </a:solidFill>
                          <a:latin typeface="Calibri"/>
                        </a:rPr>
                        <a:t>69,9%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15C"/>
                          </a:solidFill>
                          <a:latin typeface="Calibri"/>
                        </a:rPr>
                        <a:t>Usa canales digitales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87,8%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85,2%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F6B9A"/>
                          </a:solidFill>
                          <a:latin typeface="Calibri"/>
                        </a:rPr>
                        <a:t>86,5%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15C"/>
                          </a:solidFill>
                          <a:latin typeface="Calibri"/>
                        </a:rPr>
                        <a:t>Saldo mediano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$2.119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$1.902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F6B9A"/>
                          </a:solidFill>
                          <a:latin typeface="Calibri"/>
                        </a:rPr>
                        <a:t>$117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15C"/>
                          </a:solidFill>
                          <a:latin typeface="Calibri"/>
                        </a:rPr>
                        <a:t>Productos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F6B9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7200" y="3767328"/>
            <a:ext cx="1127455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761"/>
                </a:solidFill>
                <a:latin typeface="Calibri"/>
              </a:rPr>
              <a:t>VINCULACIÓN EN EL ÚLTIMO MES (t0)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96512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Acreditación de sueldo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8598" y="4082796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F6B9A"/>
                </a:solidFill>
                <a:latin typeface="Calibri"/>
              </a:rPr>
              <a:t>1,0%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61688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4361688"/>
            <a:ext cx="54864" cy="118872"/>
          </a:xfrm>
          <a:prstGeom prst="roundRect">
            <a:avLst>
              <a:gd name="adj" fmla="val 50000"/>
            </a:avLst>
          </a:prstGeom>
          <a:solidFill>
            <a:srgbClr val="2F6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75838" y="4096512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Transferencias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7236" y="4082796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F6B9A"/>
                </a:solidFill>
                <a:latin typeface="Calibri"/>
              </a:rPr>
              <a:t>32,2%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75838" y="4361688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75838" y="4361688"/>
            <a:ext cx="842825" cy="118872"/>
          </a:xfrm>
          <a:prstGeom prst="roundRect">
            <a:avLst>
              <a:gd name="adj" fmla="val 50000"/>
            </a:avLst>
          </a:prstGeom>
          <a:solidFill>
            <a:srgbClr val="2F6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4476" y="4096512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Débitos automáticos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5874" y="4082796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F6B9A"/>
                </a:solidFill>
                <a:latin typeface="Calibri"/>
              </a:rPr>
              <a:t>61,6%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4476" y="4361688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094476" y="4361688"/>
            <a:ext cx="1612361" cy="118872"/>
          </a:xfrm>
          <a:prstGeom prst="roundRect">
            <a:avLst>
              <a:gd name="adj" fmla="val 50000"/>
            </a:avLst>
          </a:prstGeom>
          <a:solidFill>
            <a:srgbClr val="2F6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3114" y="4096512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Pago de servicios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54512" y="4082796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F6B9A"/>
                </a:solidFill>
                <a:latin typeface="Calibri"/>
              </a:rPr>
              <a:t>19,7%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3114" y="4361688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913114" y="4361688"/>
            <a:ext cx="515641" cy="118872"/>
          </a:xfrm>
          <a:prstGeom prst="roundRect">
            <a:avLst>
              <a:gd name="adj" fmla="val 50000"/>
            </a:avLst>
          </a:prstGeom>
          <a:solidFill>
            <a:srgbClr val="2F6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754880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Crédito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98598" y="4741164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F6B9A"/>
                </a:solidFill>
                <a:latin typeface="Calibri"/>
              </a:rPr>
              <a:t>4,3%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020056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7200" y="5020056"/>
            <a:ext cx="112551" cy="118872"/>
          </a:xfrm>
          <a:prstGeom prst="roundRect">
            <a:avLst>
              <a:gd name="adj" fmla="val 50000"/>
            </a:avLst>
          </a:prstGeom>
          <a:solidFill>
            <a:srgbClr val="2F6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75838" y="4754880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Inversiones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17236" y="4741164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F6B9A"/>
                </a:solidFill>
                <a:latin typeface="Calibri"/>
              </a:rPr>
              <a:t>7,7%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75838" y="5020056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275838" y="5020056"/>
            <a:ext cx="201545" cy="118872"/>
          </a:xfrm>
          <a:prstGeom prst="roundRect">
            <a:avLst>
              <a:gd name="adj" fmla="val 50000"/>
            </a:avLst>
          </a:prstGeom>
          <a:solidFill>
            <a:srgbClr val="2F6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4476" y="4754880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Seguros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5874" y="4741164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F6B9A"/>
                </a:solidFill>
                <a:latin typeface="Calibri"/>
              </a:rPr>
              <a:t>21,6%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94476" y="5020056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094476" y="5020056"/>
            <a:ext cx="565373" cy="118872"/>
          </a:xfrm>
          <a:prstGeom prst="roundRect">
            <a:avLst>
              <a:gd name="adj" fmla="val 50000"/>
            </a:avLst>
          </a:prstGeom>
          <a:solidFill>
            <a:srgbClr val="2F6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13114" y="4754880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Saldo negativo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54512" y="4741164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F6B9A"/>
                </a:solidFill>
                <a:latin typeface="Calibri"/>
              </a:rPr>
              <a:t>43,5%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13114" y="5020056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913114" y="5020056"/>
            <a:ext cx="1138599" cy="118872"/>
          </a:xfrm>
          <a:prstGeom prst="roundRect">
            <a:avLst>
              <a:gd name="adj" fmla="val 50000"/>
            </a:avLst>
          </a:prstGeom>
          <a:solidFill>
            <a:srgbClr val="2F6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65099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2761"/>
                </a:solidFill>
                <a:latin typeface="Calibri"/>
              </a:rPr>
              <a:t>PRINCIPALES ABANDONOS OBSERVADOS (t−2/t−1 → 0 EN t0)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897879"/>
            <a:ext cx="1207007" cy="502920"/>
          </a:xfrm>
          <a:prstGeom prst="roundRect">
            <a:avLst>
              <a:gd name="adj" fmla="val 2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5952743"/>
            <a:ext cx="111556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6B9A"/>
                </a:solidFill>
                <a:latin typeface="Calibri"/>
              </a:rPr>
              <a:t>10,3%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3776" y="6172199"/>
            <a:ext cx="113385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33415C"/>
                </a:solidFill>
                <a:latin typeface="Calibri"/>
              </a:rPr>
              <a:t>Uso de tarjeta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755648" y="5897879"/>
            <a:ext cx="1207007" cy="502920"/>
          </a:xfrm>
          <a:prstGeom prst="roundRect">
            <a:avLst>
              <a:gd name="adj" fmla="val 2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01368" y="5952743"/>
            <a:ext cx="111556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6B9A"/>
                </a:solidFill>
                <a:latin typeface="Calibri"/>
              </a:rPr>
              <a:t>9,3%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92224" y="6172199"/>
            <a:ext cx="113385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33415C"/>
                </a:solidFill>
                <a:latin typeface="Calibri"/>
              </a:rPr>
              <a:t>Pago de servicios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054096" y="5897879"/>
            <a:ext cx="1207007" cy="502920"/>
          </a:xfrm>
          <a:prstGeom prst="roundRect">
            <a:avLst>
              <a:gd name="adj" fmla="val 2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99815" y="5952743"/>
            <a:ext cx="111556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6B9A"/>
                </a:solidFill>
                <a:latin typeface="Calibri"/>
              </a:rPr>
              <a:t>7,2%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90672" y="6172199"/>
            <a:ext cx="113385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33415C"/>
                </a:solidFill>
                <a:latin typeface="Calibri"/>
              </a:rPr>
              <a:t>Inversiones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52544" y="5897879"/>
            <a:ext cx="1207007" cy="502920"/>
          </a:xfrm>
          <a:prstGeom prst="roundRect">
            <a:avLst>
              <a:gd name="adj" fmla="val 2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98264" y="5952743"/>
            <a:ext cx="111556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6B9A"/>
                </a:solidFill>
                <a:latin typeface="Calibri"/>
              </a:rPr>
              <a:t>7,1%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0" y="6172199"/>
            <a:ext cx="113385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33415C"/>
                </a:solidFill>
                <a:latin typeface="Calibri"/>
              </a:rPr>
              <a:t>Débitos automáticos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50992" y="5897879"/>
            <a:ext cx="1207007" cy="502920"/>
          </a:xfrm>
          <a:prstGeom prst="roundRect">
            <a:avLst>
              <a:gd name="adj" fmla="val 2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96712" y="5952743"/>
            <a:ext cx="111556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6B9A"/>
                </a:solidFill>
                <a:latin typeface="Calibri"/>
              </a:rPr>
              <a:t>6,8%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87568" y="6172199"/>
            <a:ext cx="113385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33415C"/>
                </a:solidFill>
                <a:latin typeface="Calibri"/>
              </a:rPr>
              <a:t>Canales digitales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5650992"/>
            <a:ext cx="459943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2761"/>
                </a:solidFill>
                <a:latin typeface="Calibri"/>
              </a:rPr>
              <a:t>INDICADORES ECONÓMICOS (t0)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32320" y="5897879"/>
            <a:ext cx="14417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$1.704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32320" y="6172199"/>
            <a:ext cx="144170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280"/>
                </a:solidFill>
                <a:latin typeface="Calibri"/>
              </a:rPr>
              <a:t>Rentabilidad mensual (mediana)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65464" y="5897879"/>
            <a:ext cx="14417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$9.671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65464" y="6172199"/>
            <a:ext cx="144170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280"/>
                </a:solidFill>
                <a:latin typeface="Calibri"/>
              </a:rPr>
              <a:t>Rentabilidad anual registrada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98608" y="5897879"/>
            <a:ext cx="14417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68,6%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98608" y="6172199"/>
            <a:ext cx="144170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280"/>
                </a:solidFill>
                <a:latin typeface="Calibri"/>
              </a:rPr>
              <a:t>Con mantenimiento positivo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CA3AF"/>
                </a:solidFill>
                <a:latin typeface="Calibri"/>
              </a:rPr>
              <a:t>Base: bajas estrictas con tres meses consecutivos de historia (n = 1.991) · Fuente: EDA_Miranda.ipynb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CA3AF"/>
                </a:solidFill>
                <a:latin typeface="Calibri"/>
              </a:rPr>
              <a:t>1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9D8F"/>
                </a:solidFill>
                <a:latin typeface="Calibri"/>
              </a:rPr>
              <a:t>PERFIL 2 · FACILITAR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761"/>
                </a:solidFill>
                <a:latin typeface="Cambria"/>
              </a:rPr>
              <a:t>Vinculados por nómina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98280" y="365760"/>
            <a:ext cx="2633472" cy="868680"/>
          </a:xfrm>
          <a:prstGeom prst="roundRect">
            <a:avLst>
              <a:gd name="adj" fmla="val 12000"/>
            </a:avLst>
          </a:prstGeom>
          <a:solidFill>
            <a:srgbClr val="E1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98280" y="420624"/>
            <a:ext cx="263347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A9D8F"/>
                </a:solidFill>
                <a:latin typeface="Calibri"/>
              </a:rPr>
              <a:t>6,8%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859536"/>
            <a:ext cx="263347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de los clientes analizados · n = 135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761"/>
                </a:solidFill>
                <a:latin typeface="Calibri"/>
              </a:rPr>
              <a:t>RELACIÓN CON EL BANCO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37160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E2761"/>
                </a:solidFill>
                <a:latin typeface="Calibri"/>
              </a:rPr>
              <a:t>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2199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meses de antigüedad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691640"/>
            <a:ext cx="137160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E2761"/>
                </a:solidFill>
                <a:latin typeface="Calibr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22199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productos (t0)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37160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1927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familias activas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788920"/>
            <a:ext cx="137160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E2761"/>
                </a:solidFill>
                <a:latin typeface="Calibri"/>
              </a:rPr>
              <a:t>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31927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años, edad mediana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325880"/>
            <a:ext cx="807415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761"/>
                </a:solidFill>
                <a:latin typeface="Calibri"/>
              </a:rPr>
              <a:t>EVOLUCIÓN DURANTE LOS ÚLTIMOS TRES MESES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0" y="1691640"/>
          <a:ext cx="8074152" cy="1874514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1709928"/>
                <a:gridCol w="1709928"/>
                <a:gridCol w="1728216"/>
              </a:tblGrid>
              <a:tr h="312419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 anchor="ctr" marL="73152" marR="73152" marT="18288" marB="18288">
                    <a:solidFill>
                      <a:srgbClr val="2A9D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t−2</a:t>
                      </a:r>
                    </a:p>
                  </a:txBody>
                  <a:tcPr anchor="ctr" marL="73152" marR="73152" marT="18288" marB="18288">
                    <a:solidFill>
                      <a:srgbClr val="2A9D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t−1</a:t>
                      </a:r>
                    </a:p>
                  </a:txBody>
                  <a:tcPr anchor="ctr" marL="73152" marR="73152" marT="18288" marB="18288">
                    <a:solidFill>
                      <a:srgbClr val="2A9D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t0</a:t>
                      </a:r>
                    </a:p>
                  </a:txBody>
                  <a:tcPr anchor="ctr" marL="73152" marR="73152" marT="18288" marB="18288">
                    <a:solidFill>
                      <a:srgbClr val="2A9D8F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15C"/>
                          </a:solidFill>
                          <a:latin typeface="Calibri"/>
                        </a:rPr>
                        <a:t>Transacciones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A9D8F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15C"/>
                          </a:solidFill>
                          <a:latin typeface="Calibri"/>
                        </a:rPr>
                        <a:t>Usa tarjeta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60,0%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62,2%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A9D8F"/>
                          </a:solidFill>
                          <a:latin typeface="Calibri"/>
                        </a:rPr>
                        <a:t>56,3%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15C"/>
                          </a:solidFill>
                          <a:latin typeface="Calibri"/>
                        </a:rPr>
                        <a:t>Usa canales digitales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92,6%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92,6%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A9D8F"/>
                          </a:solidFill>
                          <a:latin typeface="Calibri"/>
                        </a:rPr>
                        <a:t>93,3%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15C"/>
                          </a:solidFill>
                          <a:latin typeface="Calibri"/>
                        </a:rPr>
                        <a:t>Saldo mediano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$19.791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$23.033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A9D8F"/>
                          </a:solidFill>
                          <a:latin typeface="Calibri"/>
                        </a:rPr>
                        <a:t>$7.179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15C"/>
                          </a:solidFill>
                          <a:latin typeface="Calibri"/>
                        </a:rPr>
                        <a:t>Productos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A9D8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7200" y="3767328"/>
            <a:ext cx="1127455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761"/>
                </a:solidFill>
                <a:latin typeface="Calibri"/>
              </a:rPr>
              <a:t>VINCULACIÓN EN EL ÚLTIMO MES (t0)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96512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Acreditación de sueldo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8598" y="4082796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66,7%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61688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4361688"/>
            <a:ext cx="1745852" cy="118872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75838" y="4096512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Transferencias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7236" y="4082796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61,5%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75838" y="4361688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75838" y="4361688"/>
            <a:ext cx="1609744" cy="118872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4476" y="4096512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Débitos automáticos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5874" y="4082796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52,6%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4476" y="4361688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094476" y="4361688"/>
            <a:ext cx="1376789" cy="118872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3114" y="4096512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Pago de servicios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54512" y="4082796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40,0%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3114" y="4361688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913114" y="4361688"/>
            <a:ext cx="1046988" cy="118872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754880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Crédito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98598" y="4741164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9,6%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020056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7200" y="5020056"/>
            <a:ext cx="251277" cy="118872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75838" y="4754880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Inversiones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17236" y="4741164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12,6%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75838" y="5020056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275838" y="5020056"/>
            <a:ext cx="329801" cy="118872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4476" y="4754880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Seguros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5874" y="4741164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21,5%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94476" y="5020056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094476" y="5020056"/>
            <a:ext cx="562756" cy="118872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13114" y="4754880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Saldo negativo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54512" y="4741164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22,2%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13114" y="5020056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913114" y="5020056"/>
            <a:ext cx="581078" cy="118872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65099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2761"/>
                </a:solidFill>
                <a:latin typeface="Calibri"/>
              </a:rPr>
              <a:t>PRINCIPALES ABANDONOS OBSERVADOS (t−2/t−1 → 0 EN t0)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897879"/>
            <a:ext cx="1207007" cy="502920"/>
          </a:xfrm>
          <a:prstGeom prst="roundRect">
            <a:avLst>
              <a:gd name="adj" fmla="val 28000"/>
            </a:avLst>
          </a:prstGeom>
          <a:solidFill>
            <a:srgbClr val="E1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5952743"/>
            <a:ext cx="111556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9D8F"/>
                </a:solidFill>
                <a:latin typeface="Calibri"/>
              </a:rPr>
              <a:t>33,3%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3776" y="6172199"/>
            <a:ext cx="113385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33415C"/>
                </a:solidFill>
                <a:latin typeface="Calibri"/>
              </a:rPr>
              <a:t>Payroll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755648" y="5897879"/>
            <a:ext cx="1207007" cy="502920"/>
          </a:xfrm>
          <a:prstGeom prst="roundRect">
            <a:avLst>
              <a:gd name="adj" fmla="val 28000"/>
            </a:avLst>
          </a:prstGeom>
          <a:solidFill>
            <a:srgbClr val="E1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01368" y="5952743"/>
            <a:ext cx="111556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9D8F"/>
                </a:solidFill>
                <a:latin typeface="Calibri"/>
              </a:rPr>
              <a:t>8,1%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92224" y="6172199"/>
            <a:ext cx="113385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33415C"/>
                </a:solidFill>
                <a:latin typeface="Calibri"/>
              </a:rPr>
              <a:t>Uso de tarjeta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054096" y="5897879"/>
            <a:ext cx="1207007" cy="502920"/>
          </a:xfrm>
          <a:prstGeom prst="roundRect">
            <a:avLst>
              <a:gd name="adj" fmla="val 28000"/>
            </a:avLst>
          </a:prstGeom>
          <a:solidFill>
            <a:srgbClr val="E1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99815" y="5952743"/>
            <a:ext cx="111556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9D8F"/>
                </a:solidFill>
                <a:latin typeface="Calibri"/>
              </a:rPr>
              <a:t>7,4%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90672" y="6172199"/>
            <a:ext cx="113385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33415C"/>
                </a:solidFill>
                <a:latin typeface="Calibri"/>
              </a:rPr>
              <a:t>Débitos automáticos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52544" y="5897879"/>
            <a:ext cx="1207007" cy="502920"/>
          </a:xfrm>
          <a:prstGeom prst="roundRect">
            <a:avLst>
              <a:gd name="adj" fmla="val 28000"/>
            </a:avLst>
          </a:prstGeom>
          <a:solidFill>
            <a:srgbClr val="E1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98264" y="5952743"/>
            <a:ext cx="111556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9D8F"/>
                </a:solidFill>
                <a:latin typeface="Calibri"/>
              </a:rPr>
              <a:t>6,7%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0" y="6172199"/>
            <a:ext cx="113385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33415C"/>
                </a:solidFill>
                <a:latin typeface="Calibri"/>
              </a:rPr>
              <a:t>Pago de servicios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50992" y="5897879"/>
            <a:ext cx="1207007" cy="502920"/>
          </a:xfrm>
          <a:prstGeom prst="roundRect">
            <a:avLst>
              <a:gd name="adj" fmla="val 28000"/>
            </a:avLst>
          </a:prstGeom>
          <a:solidFill>
            <a:srgbClr val="E1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96712" y="5952743"/>
            <a:ext cx="111556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9D8F"/>
                </a:solidFill>
                <a:latin typeface="Calibri"/>
              </a:rPr>
              <a:t>5,9%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87568" y="6172199"/>
            <a:ext cx="113385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33415C"/>
                </a:solidFill>
                <a:latin typeface="Calibri"/>
              </a:rPr>
              <a:t>Inversiones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5650992"/>
            <a:ext cx="459943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2761"/>
                </a:solidFill>
                <a:latin typeface="Calibri"/>
              </a:rPr>
              <a:t>INDICADORES ECONÓMICOS (t0)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32320" y="5897879"/>
            <a:ext cx="14417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$1.154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32320" y="6172199"/>
            <a:ext cx="144170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280"/>
                </a:solidFill>
                <a:latin typeface="Calibri"/>
              </a:rPr>
              <a:t>Rentabilidad mensual (mediana)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65464" y="5897879"/>
            <a:ext cx="14417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$9.086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65464" y="6172199"/>
            <a:ext cx="144170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280"/>
                </a:solidFill>
                <a:latin typeface="Calibri"/>
              </a:rPr>
              <a:t>Rentabilidad anual registrada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98608" y="5897879"/>
            <a:ext cx="14417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17,8%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98608" y="6172199"/>
            <a:ext cx="144170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280"/>
                </a:solidFill>
                <a:latin typeface="Calibri"/>
              </a:rPr>
              <a:t>Con mantenimiento positivo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CA3AF"/>
                </a:solidFill>
                <a:latin typeface="Calibri"/>
              </a:rPr>
              <a:t>Base: bajas estrictas con tres meses consecutivos de historia (n = 1.991) · Fuente: EDA_Miranda.ipynb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CA3AF"/>
                </a:solidFill>
                <a:latin typeface="Calibri"/>
              </a:rPr>
              <a:t>2 /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C6BB1"/>
                </a:solidFill>
                <a:latin typeface="Calibri"/>
              </a:rPr>
              <a:t>PERFIL 3 · ACOMPAÑAR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761"/>
                </a:solidFill>
                <a:latin typeface="Cambria"/>
              </a:rPr>
              <a:t>Vinculados por crédito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98280" y="365760"/>
            <a:ext cx="2633472" cy="868680"/>
          </a:xfrm>
          <a:prstGeom prst="roundRect">
            <a:avLst>
              <a:gd name="adj" fmla="val 12000"/>
            </a:avLst>
          </a:prstGeom>
          <a:solidFill>
            <a:srgbClr val="EF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98280" y="420624"/>
            <a:ext cx="263347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C6BB1"/>
                </a:solidFill>
                <a:latin typeface="Calibri"/>
              </a:rPr>
              <a:t>4,6%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859536"/>
            <a:ext cx="263347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de los clientes analizados · n = 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761"/>
                </a:solidFill>
                <a:latin typeface="Calibri"/>
              </a:rPr>
              <a:t>RELACIÓN CON EL BANCO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37160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E2761"/>
                </a:solidFill>
                <a:latin typeface="Calibri"/>
              </a:rPr>
              <a:t>61,5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2199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meses de antigüedad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691640"/>
            <a:ext cx="137160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E2761"/>
                </a:solidFill>
                <a:latin typeface="Calibr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22199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productos (t0)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37160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1927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familias activas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788920"/>
            <a:ext cx="137160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E2761"/>
                </a:solidFill>
                <a:latin typeface="Calibri"/>
              </a:rPr>
              <a:t>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31927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años, edad mediana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325880"/>
            <a:ext cx="807415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761"/>
                </a:solidFill>
                <a:latin typeface="Calibri"/>
              </a:rPr>
              <a:t>EVOLUCIÓN DURANTE LOS ÚLTIMOS TRES MESES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0" y="1691640"/>
          <a:ext cx="8074152" cy="1874514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1709928"/>
                <a:gridCol w="1709928"/>
                <a:gridCol w="1728216"/>
              </a:tblGrid>
              <a:tr h="312419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 anchor="ctr" marL="73152" marR="73152" marT="18288" marB="18288">
                    <a:solidFill>
                      <a:srgbClr val="8C6B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t−2</a:t>
                      </a:r>
                    </a:p>
                  </a:txBody>
                  <a:tcPr anchor="ctr" marL="73152" marR="73152" marT="18288" marB="18288">
                    <a:solidFill>
                      <a:srgbClr val="8C6B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t−1</a:t>
                      </a:r>
                    </a:p>
                  </a:txBody>
                  <a:tcPr anchor="ctr" marL="73152" marR="73152" marT="18288" marB="18288">
                    <a:solidFill>
                      <a:srgbClr val="8C6B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t0</a:t>
                      </a:r>
                    </a:p>
                  </a:txBody>
                  <a:tcPr anchor="ctr" marL="73152" marR="73152" marT="18288" marB="18288">
                    <a:solidFill>
                      <a:srgbClr val="8C6BB1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15C"/>
                          </a:solidFill>
                          <a:latin typeface="Calibri"/>
                        </a:rPr>
                        <a:t>Transacciones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12,5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8C6BB1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15C"/>
                          </a:solidFill>
                          <a:latin typeface="Calibri"/>
                        </a:rPr>
                        <a:t>Usa tarjeta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19,6%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14,1%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8C6BB1"/>
                          </a:solidFill>
                          <a:latin typeface="Calibri"/>
                        </a:rPr>
                        <a:t>10,9%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15C"/>
                          </a:solidFill>
                          <a:latin typeface="Calibri"/>
                        </a:rPr>
                        <a:t>Usa canales digitales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62,0%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62,0%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8C6BB1"/>
                          </a:solidFill>
                          <a:latin typeface="Calibri"/>
                        </a:rPr>
                        <a:t>64,1%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15C"/>
                          </a:solidFill>
                          <a:latin typeface="Calibri"/>
                        </a:rPr>
                        <a:t>Saldo mediano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−$2.167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−$3.069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8C6BB1"/>
                          </a:solidFill>
                          <a:latin typeface="Calibri"/>
                        </a:rPr>
                        <a:t>−$2.768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15C"/>
                          </a:solidFill>
                          <a:latin typeface="Calibri"/>
                        </a:rPr>
                        <a:t>Productos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8C6BB1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7200" y="3767328"/>
            <a:ext cx="1127455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761"/>
                </a:solidFill>
                <a:latin typeface="Calibri"/>
              </a:rPr>
              <a:t>VINCULACIÓN EN EL ÚLTIMO MES (t0)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96512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Acreditación de sueldo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8598" y="4082796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6BB1"/>
                </a:solidFill>
                <a:latin typeface="Calibri"/>
              </a:rPr>
              <a:t>3,3%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61688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4361688"/>
            <a:ext cx="86376" cy="118872"/>
          </a:xfrm>
          <a:prstGeom prst="roundRect">
            <a:avLst>
              <a:gd name="adj" fmla="val 50000"/>
            </a:avLst>
          </a:prstGeom>
          <a:solidFill>
            <a:srgbClr val="8C6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75838" y="4096512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Transferencias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7236" y="4082796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6BB1"/>
                </a:solidFill>
                <a:latin typeface="Calibri"/>
              </a:rPr>
              <a:t>5,4%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75838" y="4361688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75838" y="4361688"/>
            <a:ext cx="141343" cy="118872"/>
          </a:xfrm>
          <a:prstGeom prst="roundRect">
            <a:avLst>
              <a:gd name="adj" fmla="val 50000"/>
            </a:avLst>
          </a:prstGeom>
          <a:solidFill>
            <a:srgbClr val="8C6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4476" y="4096512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Débitos automáticos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5874" y="4082796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6BB1"/>
                </a:solidFill>
                <a:latin typeface="Calibri"/>
              </a:rPr>
              <a:t>20,7%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4476" y="4361688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094476" y="4361688"/>
            <a:ext cx="541816" cy="118872"/>
          </a:xfrm>
          <a:prstGeom prst="roundRect">
            <a:avLst>
              <a:gd name="adj" fmla="val 50000"/>
            </a:avLst>
          </a:prstGeom>
          <a:solidFill>
            <a:srgbClr val="8C6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3114" y="4096512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Pago de servicios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54512" y="4082796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6BB1"/>
                </a:solidFill>
                <a:latin typeface="Calibri"/>
              </a:rPr>
              <a:t>0,0%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3114" y="4361688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913114" y="4361688"/>
            <a:ext cx="54864" cy="118872"/>
          </a:xfrm>
          <a:prstGeom prst="roundRect">
            <a:avLst>
              <a:gd name="adj" fmla="val 50000"/>
            </a:avLst>
          </a:prstGeom>
          <a:solidFill>
            <a:srgbClr val="8C6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754880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Crédito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98598" y="4741164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6BB1"/>
                </a:solidFill>
                <a:latin typeface="Calibri"/>
              </a:rPr>
              <a:t>100,0%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020056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7200" y="5020056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8C6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75838" y="4754880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Inversiones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17236" y="4741164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6BB1"/>
                </a:solidFill>
                <a:latin typeface="Calibri"/>
              </a:rPr>
              <a:t>1,1%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75838" y="5020056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275838" y="5020056"/>
            <a:ext cx="54864" cy="118872"/>
          </a:xfrm>
          <a:prstGeom prst="roundRect">
            <a:avLst>
              <a:gd name="adj" fmla="val 50000"/>
            </a:avLst>
          </a:prstGeom>
          <a:solidFill>
            <a:srgbClr val="8C6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4476" y="4754880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Seguros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5874" y="4741164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6BB1"/>
                </a:solidFill>
                <a:latin typeface="Calibri"/>
              </a:rPr>
              <a:t>16,3%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94476" y="5020056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094476" y="5020056"/>
            <a:ext cx="426647" cy="118872"/>
          </a:xfrm>
          <a:prstGeom prst="roundRect">
            <a:avLst>
              <a:gd name="adj" fmla="val 50000"/>
            </a:avLst>
          </a:prstGeom>
          <a:solidFill>
            <a:srgbClr val="8C6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13114" y="4754880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Saldo negativo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54512" y="4741164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6BB1"/>
                </a:solidFill>
                <a:latin typeface="Calibri"/>
              </a:rPr>
              <a:t>83,7%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13114" y="5020056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913114" y="5020056"/>
            <a:ext cx="2190822" cy="118872"/>
          </a:xfrm>
          <a:prstGeom prst="roundRect">
            <a:avLst>
              <a:gd name="adj" fmla="val 50000"/>
            </a:avLst>
          </a:prstGeom>
          <a:solidFill>
            <a:srgbClr val="8C6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65099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2761"/>
                </a:solidFill>
                <a:latin typeface="Calibri"/>
              </a:rPr>
              <a:t>PRINCIPALES ABANDONOS OBSERVADOS (t−2/t−1 → 0 EN t0)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897879"/>
            <a:ext cx="1207007" cy="502920"/>
          </a:xfrm>
          <a:prstGeom prst="roundRect">
            <a:avLst>
              <a:gd name="adj" fmla="val 28000"/>
            </a:avLst>
          </a:prstGeom>
          <a:solidFill>
            <a:srgbClr val="EF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5952743"/>
            <a:ext cx="111556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C6BB1"/>
                </a:solidFill>
                <a:latin typeface="Calibri"/>
              </a:rPr>
              <a:t>0,0%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3776" y="6172199"/>
            <a:ext cx="113385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33415C"/>
                </a:solidFill>
                <a:latin typeface="Calibri"/>
              </a:rPr>
              <a:t>Crédito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755648" y="5897879"/>
            <a:ext cx="1207007" cy="502920"/>
          </a:xfrm>
          <a:prstGeom prst="roundRect">
            <a:avLst>
              <a:gd name="adj" fmla="val 28000"/>
            </a:avLst>
          </a:prstGeom>
          <a:solidFill>
            <a:srgbClr val="EF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01368" y="5952743"/>
            <a:ext cx="111556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C6BB1"/>
                </a:solidFill>
                <a:latin typeface="Calibri"/>
              </a:rPr>
              <a:t>8,7%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92224" y="6172199"/>
            <a:ext cx="113385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33415C"/>
                </a:solidFill>
                <a:latin typeface="Calibri"/>
              </a:rPr>
              <a:t>Uso de tarjeta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054096" y="5897879"/>
            <a:ext cx="1207007" cy="502920"/>
          </a:xfrm>
          <a:prstGeom prst="roundRect">
            <a:avLst>
              <a:gd name="adj" fmla="val 28000"/>
            </a:avLst>
          </a:prstGeom>
          <a:solidFill>
            <a:srgbClr val="EF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99815" y="5952743"/>
            <a:ext cx="111556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C6BB1"/>
                </a:solidFill>
                <a:latin typeface="Calibri"/>
              </a:rPr>
              <a:t>6,5%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90672" y="6172199"/>
            <a:ext cx="113385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33415C"/>
                </a:solidFill>
                <a:latin typeface="Calibri"/>
              </a:rPr>
              <a:t>Canales digitales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52544" y="5897879"/>
            <a:ext cx="1207007" cy="502920"/>
          </a:xfrm>
          <a:prstGeom prst="roundRect">
            <a:avLst>
              <a:gd name="adj" fmla="val 28000"/>
            </a:avLst>
          </a:prstGeom>
          <a:solidFill>
            <a:srgbClr val="EF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98264" y="5952743"/>
            <a:ext cx="111556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C6BB1"/>
                </a:solidFill>
                <a:latin typeface="Calibri"/>
              </a:rPr>
              <a:t>5,4%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0" y="6172199"/>
            <a:ext cx="113385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33415C"/>
                </a:solidFill>
                <a:latin typeface="Calibri"/>
              </a:rPr>
              <a:t>Tenencia de tarjeta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50992" y="5897879"/>
            <a:ext cx="1207007" cy="502920"/>
          </a:xfrm>
          <a:prstGeom prst="roundRect">
            <a:avLst>
              <a:gd name="adj" fmla="val 28000"/>
            </a:avLst>
          </a:prstGeom>
          <a:solidFill>
            <a:srgbClr val="EF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96712" y="5952743"/>
            <a:ext cx="111556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C6BB1"/>
                </a:solidFill>
                <a:latin typeface="Calibri"/>
              </a:rPr>
              <a:t>5,4%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87568" y="6172199"/>
            <a:ext cx="113385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33415C"/>
                </a:solidFill>
                <a:latin typeface="Calibri"/>
              </a:rPr>
              <a:t>Seguros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5650992"/>
            <a:ext cx="459943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2761"/>
                </a:solidFill>
                <a:latin typeface="Calibri"/>
              </a:rPr>
              <a:t>INDICADORES ECONÓMICOS (t0)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32320" y="5897879"/>
            <a:ext cx="14417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$2.067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32320" y="6172199"/>
            <a:ext cx="144170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280"/>
                </a:solidFill>
                <a:latin typeface="Calibri"/>
              </a:rPr>
              <a:t>Rentabilidad mensual (mediana)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65464" y="5897879"/>
            <a:ext cx="14417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$21.948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65464" y="6172199"/>
            <a:ext cx="144170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280"/>
                </a:solidFill>
                <a:latin typeface="Calibri"/>
              </a:rPr>
              <a:t>Rentabilidad anual registrada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98608" y="5897879"/>
            <a:ext cx="14417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73,9%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98608" y="6172199"/>
            <a:ext cx="144170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280"/>
                </a:solidFill>
                <a:latin typeface="Calibri"/>
              </a:rPr>
              <a:t>Con mantenimiento positivo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CA3AF"/>
                </a:solidFill>
                <a:latin typeface="Calibri"/>
              </a:rPr>
              <a:t>Base: bajas estrictas con tres meses consecutivos de historia (n = 1.991) · Fuente: EDA_Miranda.ipynb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CA3AF"/>
                </a:solidFill>
                <a:latin typeface="Calibri"/>
              </a:rPr>
              <a:t>3 /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97732"/>
                </a:solidFill>
                <a:latin typeface="Calibri"/>
              </a:rPr>
              <a:t>PERFIL 4 · DECIDIR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761"/>
                </a:solidFill>
                <a:latin typeface="Cambria"/>
              </a:rPr>
              <a:t>Desvinculación avanzada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98280" y="365760"/>
            <a:ext cx="2633472" cy="868680"/>
          </a:xfrm>
          <a:prstGeom prst="roundRect">
            <a:avLst>
              <a:gd name="adj" fmla="val 12000"/>
            </a:avLst>
          </a:prstGeom>
          <a:solidFill>
            <a:srgbClr val="FBE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98280" y="420624"/>
            <a:ext cx="263347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D97732"/>
                </a:solidFill>
                <a:latin typeface="Calibri"/>
              </a:rPr>
              <a:t>39,4%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859536"/>
            <a:ext cx="263347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de los clientes analizados · n = 785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761"/>
                </a:solidFill>
                <a:latin typeface="Calibri"/>
              </a:rPr>
              <a:t>RELACIÓN CON EL BANCO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37160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E2761"/>
                </a:solidFill>
                <a:latin typeface="Calibri"/>
              </a:rPr>
              <a:t>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2199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meses de antigüedad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691640"/>
            <a:ext cx="137160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E2761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22199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productos (t0)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37160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1927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familia activa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788920"/>
            <a:ext cx="137160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E2761"/>
                </a:solidFill>
                <a:latin typeface="Calibri"/>
              </a:rPr>
              <a:t>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31927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años, edad mediana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325880"/>
            <a:ext cx="807415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761"/>
                </a:solidFill>
                <a:latin typeface="Calibri"/>
              </a:rPr>
              <a:t>EVOLUCIÓN DURANTE LOS ÚLTIMOS TRES MESES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0" y="1691640"/>
          <a:ext cx="8074152" cy="1874514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1709928"/>
                <a:gridCol w="1709928"/>
                <a:gridCol w="1728216"/>
              </a:tblGrid>
              <a:tr h="312419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 anchor="ctr" marL="73152" marR="73152" marT="18288" marB="18288">
                    <a:solidFill>
                      <a:srgbClr val="D977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t−2</a:t>
                      </a:r>
                    </a:p>
                  </a:txBody>
                  <a:tcPr anchor="ctr" marL="73152" marR="73152" marT="18288" marB="18288">
                    <a:solidFill>
                      <a:srgbClr val="D977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t−1</a:t>
                      </a:r>
                    </a:p>
                  </a:txBody>
                  <a:tcPr anchor="ctr" marL="73152" marR="73152" marT="18288" marB="18288">
                    <a:solidFill>
                      <a:srgbClr val="D977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t0</a:t>
                      </a:r>
                    </a:p>
                  </a:txBody>
                  <a:tcPr anchor="ctr" marL="73152" marR="73152" marT="18288" marB="18288">
                    <a:solidFill>
                      <a:srgbClr val="D97732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15C"/>
                          </a:solidFill>
                          <a:latin typeface="Calibri"/>
                        </a:rPr>
                        <a:t>Transacciones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D9773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15C"/>
                          </a:solidFill>
                          <a:latin typeface="Calibri"/>
                        </a:rPr>
                        <a:t>Usa tarjeta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20,6%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14,8%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D97732"/>
                          </a:solidFill>
                          <a:latin typeface="Calibri"/>
                        </a:rPr>
                        <a:t>9,9%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15C"/>
                          </a:solidFill>
                          <a:latin typeface="Calibri"/>
                        </a:rPr>
                        <a:t>Usa canales digitales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40,9%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40,4%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D97732"/>
                          </a:solidFill>
                          <a:latin typeface="Calibri"/>
                        </a:rPr>
                        <a:t>44,0%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15C"/>
                          </a:solidFill>
                          <a:latin typeface="Calibri"/>
                        </a:rPr>
                        <a:t>Saldo mediano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−$5.498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−$7.009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D97732"/>
                          </a:solidFill>
                          <a:latin typeface="Calibri"/>
                        </a:rPr>
                        <a:t>−$7.420</a:t>
                      </a:r>
                    </a:p>
                  </a:txBody>
                  <a:tcPr anchor="ctr" marL="73152" marR="73152" marT="18288" marB="18288">
                    <a:solidFill>
                      <a:srgbClr val="F4F6FB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15C"/>
                          </a:solidFill>
                          <a:latin typeface="Calibri"/>
                        </a:rPr>
                        <a:t>Productos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3415C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D9773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7200" y="3767328"/>
            <a:ext cx="1127455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761"/>
                </a:solidFill>
                <a:latin typeface="Calibri"/>
              </a:rPr>
              <a:t>VINCULACIÓN EN EL ÚLTIMO MES (t0)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96512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Acreditación de sueldo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8598" y="4082796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7732"/>
                </a:solidFill>
                <a:latin typeface="Calibri"/>
              </a:rPr>
              <a:t>1,0%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61688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4361688"/>
            <a:ext cx="54864" cy="118872"/>
          </a:xfrm>
          <a:prstGeom prst="roundRect">
            <a:avLst>
              <a:gd name="adj" fmla="val 50000"/>
            </a:avLst>
          </a:prstGeom>
          <a:solidFill>
            <a:srgbClr val="D97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75838" y="4096512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Transferencias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7236" y="4082796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7732"/>
                </a:solidFill>
                <a:latin typeface="Calibri"/>
              </a:rPr>
              <a:t>3,2%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75838" y="4361688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75838" y="4361688"/>
            <a:ext cx="83759" cy="118872"/>
          </a:xfrm>
          <a:prstGeom prst="roundRect">
            <a:avLst>
              <a:gd name="adj" fmla="val 50000"/>
            </a:avLst>
          </a:prstGeom>
          <a:solidFill>
            <a:srgbClr val="D97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4476" y="4096512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Débitos automáticos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5874" y="4082796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7732"/>
                </a:solidFill>
                <a:latin typeface="Calibri"/>
              </a:rPr>
              <a:t>14,4%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4476" y="4361688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094476" y="4361688"/>
            <a:ext cx="376915" cy="118872"/>
          </a:xfrm>
          <a:prstGeom prst="roundRect">
            <a:avLst>
              <a:gd name="adj" fmla="val 50000"/>
            </a:avLst>
          </a:prstGeom>
          <a:solidFill>
            <a:srgbClr val="D97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3114" y="4096512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Pago de servicios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54512" y="4082796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7732"/>
                </a:solidFill>
                <a:latin typeface="Calibri"/>
              </a:rPr>
              <a:t>0,8%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3114" y="4361688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913114" y="4361688"/>
            <a:ext cx="54864" cy="118872"/>
          </a:xfrm>
          <a:prstGeom prst="roundRect">
            <a:avLst>
              <a:gd name="adj" fmla="val 50000"/>
            </a:avLst>
          </a:prstGeom>
          <a:solidFill>
            <a:srgbClr val="D97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754880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Crédito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98598" y="4741164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7732"/>
                </a:solidFill>
                <a:latin typeface="Calibri"/>
              </a:rPr>
              <a:t>0,5%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020056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7200" y="5020056"/>
            <a:ext cx="54864" cy="118872"/>
          </a:xfrm>
          <a:prstGeom prst="roundRect">
            <a:avLst>
              <a:gd name="adj" fmla="val 50000"/>
            </a:avLst>
          </a:prstGeom>
          <a:solidFill>
            <a:srgbClr val="D97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75838" y="4754880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Inversiones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17236" y="4741164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7732"/>
                </a:solidFill>
                <a:latin typeface="Calibri"/>
              </a:rPr>
              <a:t>2,0%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75838" y="5020056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275838" y="5020056"/>
            <a:ext cx="54864" cy="118872"/>
          </a:xfrm>
          <a:prstGeom prst="roundRect">
            <a:avLst>
              <a:gd name="adj" fmla="val 50000"/>
            </a:avLst>
          </a:prstGeom>
          <a:solidFill>
            <a:srgbClr val="D97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4476" y="4754880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Seguros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5874" y="4741164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7732"/>
                </a:solidFill>
                <a:latin typeface="Calibri"/>
              </a:rPr>
              <a:t>10,3%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94476" y="5020056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094476" y="5020056"/>
            <a:ext cx="269599" cy="118872"/>
          </a:xfrm>
          <a:prstGeom prst="roundRect">
            <a:avLst>
              <a:gd name="adj" fmla="val 50000"/>
            </a:avLst>
          </a:prstGeom>
          <a:solidFill>
            <a:srgbClr val="D97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13114" y="4754880"/>
            <a:ext cx="2041398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C"/>
                </a:solidFill>
                <a:latin typeface="Calibri"/>
              </a:rPr>
              <a:t>Saldo negativo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54512" y="4741164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7732"/>
                </a:solidFill>
                <a:latin typeface="Calibri"/>
              </a:rPr>
              <a:t>88,5%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13114" y="5020056"/>
            <a:ext cx="2617470" cy="118872"/>
          </a:xfrm>
          <a:prstGeom prst="roundRect">
            <a:avLst>
              <a:gd name="adj" fmla="val 50000"/>
            </a:avLst>
          </a:prstGeom>
          <a:solidFill>
            <a:srgbClr val="E4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913114" y="5020056"/>
            <a:ext cx="2316460" cy="118872"/>
          </a:xfrm>
          <a:prstGeom prst="roundRect">
            <a:avLst>
              <a:gd name="adj" fmla="val 50000"/>
            </a:avLst>
          </a:prstGeom>
          <a:solidFill>
            <a:srgbClr val="D97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65099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2761"/>
                </a:solidFill>
                <a:latin typeface="Calibri"/>
              </a:rPr>
              <a:t>PRINCIPALES ABANDONOS OBSERVADOS (t−2/t−1 → 0 EN t0)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897879"/>
            <a:ext cx="1207007" cy="502920"/>
          </a:xfrm>
          <a:prstGeom prst="roundRect">
            <a:avLst>
              <a:gd name="adj" fmla="val 28000"/>
            </a:avLst>
          </a:prstGeom>
          <a:solidFill>
            <a:srgbClr val="FBE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5952743"/>
            <a:ext cx="111556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97732"/>
                </a:solidFill>
                <a:latin typeface="Calibri"/>
              </a:rPr>
              <a:t>14,5%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3776" y="6172199"/>
            <a:ext cx="113385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33415C"/>
                </a:solidFill>
                <a:latin typeface="Calibri"/>
              </a:rPr>
              <a:t>Tenencia de tarjeta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755648" y="5897879"/>
            <a:ext cx="1207007" cy="502920"/>
          </a:xfrm>
          <a:prstGeom prst="roundRect">
            <a:avLst>
              <a:gd name="adj" fmla="val 28000"/>
            </a:avLst>
          </a:prstGeom>
          <a:solidFill>
            <a:srgbClr val="FBE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01368" y="5952743"/>
            <a:ext cx="111556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97732"/>
                </a:solidFill>
                <a:latin typeface="Calibri"/>
              </a:rPr>
              <a:t>14,5%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92224" y="6172199"/>
            <a:ext cx="113385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33415C"/>
                </a:solidFill>
                <a:latin typeface="Calibri"/>
              </a:rPr>
              <a:t>Canales digitales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054096" y="5897879"/>
            <a:ext cx="1207007" cy="502920"/>
          </a:xfrm>
          <a:prstGeom prst="roundRect">
            <a:avLst>
              <a:gd name="adj" fmla="val 28000"/>
            </a:avLst>
          </a:prstGeom>
          <a:solidFill>
            <a:srgbClr val="FBE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99815" y="5952743"/>
            <a:ext cx="111556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97732"/>
                </a:solidFill>
                <a:latin typeface="Calibri"/>
              </a:rPr>
              <a:t>11,6%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90672" y="6172199"/>
            <a:ext cx="113385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33415C"/>
                </a:solidFill>
                <a:latin typeface="Calibri"/>
              </a:rPr>
              <a:t>Uso de tarjeta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52544" y="5897879"/>
            <a:ext cx="1207007" cy="502920"/>
          </a:xfrm>
          <a:prstGeom prst="roundRect">
            <a:avLst>
              <a:gd name="adj" fmla="val 28000"/>
            </a:avLst>
          </a:prstGeom>
          <a:solidFill>
            <a:srgbClr val="FBE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98264" y="5952743"/>
            <a:ext cx="111556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97732"/>
                </a:solidFill>
                <a:latin typeface="Calibri"/>
              </a:rPr>
              <a:t>7,0%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0" y="6172199"/>
            <a:ext cx="113385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33415C"/>
                </a:solidFill>
                <a:latin typeface="Calibri"/>
              </a:rPr>
              <a:t>Débitos automáticos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50992" y="5897879"/>
            <a:ext cx="1207007" cy="502920"/>
          </a:xfrm>
          <a:prstGeom prst="roundRect">
            <a:avLst>
              <a:gd name="adj" fmla="val 28000"/>
            </a:avLst>
          </a:prstGeom>
          <a:solidFill>
            <a:srgbClr val="FBE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96712" y="5952743"/>
            <a:ext cx="111556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97732"/>
                </a:solidFill>
                <a:latin typeface="Calibri"/>
              </a:rPr>
              <a:t>3,1%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87568" y="6172199"/>
            <a:ext cx="113385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33415C"/>
                </a:solidFill>
                <a:latin typeface="Calibri"/>
              </a:rPr>
              <a:t>Créditos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5650992"/>
            <a:ext cx="459943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2761"/>
                </a:solidFill>
                <a:latin typeface="Calibri"/>
              </a:rPr>
              <a:t>INDICADORES ECONÓMICOS (t0)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32320" y="5897879"/>
            <a:ext cx="14417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$1.902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32320" y="6172199"/>
            <a:ext cx="144170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280"/>
                </a:solidFill>
                <a:latin typeface="Calibri"/>
              </a:rPr>
              <a:t>Rentabilidad mensual (mediana)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65464" y="5897879"/>
            <a:ext cx="14417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$12.760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65464" y="6172199"/>
            <a:ext cx="144170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280"/>
                </a:solidFill>
                <a:latin typeface="Calibri"/>
              </a:rPr>
              <a:t>Rentabilidad anual registrada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98608" y="5897879"/>
            <a:ext cx="14417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75,8%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98608" y="6172199"/>
            <a:ext cx="144170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280"/>
                </a:solidFill>
                <a:latin typeface="Calibri"/>
              </a:rPr>
              <a:t>Con mantenimiento positivo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CA3AF"/>
                </a:solidFill>
                <a:latin typeface="Calibri"/>
              </a:rPr>
              <a:t>Base: bajas estrictas con tres meses consecutivos de historia (n = 1.991) · Fuente: EDA_Miranda.ipynb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CA3AF"/>
                </a:solidFill>
                <a:latin typeface="Calibri"/>
              </a:rPr>
              <a:t>4 /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46888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337560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CADCFC"/>
                </a:solidFill>
                <a:latin typeface="Calibri"/>
              </a:rPr>
              <a:t>Preguntas y discusión</a:t>
            </a:r>
          </a:p>
        </p:txBody>
      </p:sp>
      <p:sp>
        <p:nvSpPr>
          <p:cNvPr id="4" name="Oval 3"/>
          <p:cNvSpPr/>
          <p:nvPr/>
        </p:nvSpPr>
        <p:spPr>
          <a:xfrm>
            <a:off x="8595360" y="3108960"/>
            <a:ext cx="384048" cy="384048"/>
          </a:xfrm>
          <a:prstGeom prst="ellipse">
            <a:avLst/>
          </a:prstGeom>
          <a:solidFill>
            <a:srgbClr val="2F6B9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3108960"/>
            <a:ext cx="384048" cy="384048"/>
          </a:xfrm>
          <a:prstGeom prst="ellipse">
            <a:avLst/>
          </a:prstGeom>
          <a:solidFill>
            <a:srgbClr val="2A9D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0" y="3108960"/>
            <a:ext cx="384048" cy="384048"/>
          </a:xfrm>
          <a:prstGeom prst="ellipse">
            <a:avLst/>
          </a:prstGeom>
          <a:solidFill>
            <a:srgbClr val="8C6BB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0" y="3108960"/>
            <a:ext cx="384048" cy="384048"/>
          </a:xfrm>
          <a:prstGeom prst="ellipse">
            <a:avLst/>
          </a:prstGeom>
          <a:solidFill>
            <a:srgbClr val="D9773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